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0" r:id="rId7"/>
    <p:sldId id="268" r:id="rId8"/>
    <p:sldId id="276" r:id="rId9"/>
    <p:sldId id="269" r:id="rId10"/>
    <p:sldId id="274" r:id="rId11"/>
    <p:sldId id="277" r:id="rId12"/>
    <p:sldId id="270" r:id="rId13"/>
    <p:sldId id="271" r:id="rId14"/>
    <p:sldId id="263" r:id="rId15"/>
    <p:sldId id="266" r:id="rId16"/>
    <p:sldId id="275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40"/>
    <p:restoredTop sz="96904"/>
  </p:normalViewPr>
  <p:slideViewPr>
    <p:cSldViewPr snapToGrid="0">
      <p:cViewPr varScale="1">
        <p:scale>
          <a:sx n="139" d="100"/>
          <a:sy n="139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8562-849E-5646-A922-C19A11EAA8BA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8E566-A59F-0D45-A7F0-B07B8C73F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CBAF-4093-8B2F-0031-50038AA2E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868EE-A38D-2348-2356-EB641077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64B19-C05F-EA52-61B6-4564F44B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D8410-FA1C-CF4F-61CA-48CD4203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EEF48-1C1C-F4C4-1A49-6A08510C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2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D92C-B147-D473-8C3F-10E082EC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C2109-FBF8-E163-848B-153F86DB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262DC-9580-9FA3-0CEC-E96F0D77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BEDDD-9115-0134-1CAC-1CEC54A2D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FB977-533B-49C8-2A4F-D5DD3041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6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D851-CF88-A8AA-298B-B16190B3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C3BD6-60AE-BC06-CEC5-E20BBA9E4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03994-B0FD-E049-22A3-6CB821ED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C1855-4ACA-9DB1-6658-FB029570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D8F54-C5E4-841D-BA17-AA65B64B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5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3C03-86A9-D373-FFFA-5491C0D4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30BD-3D68-DC3C-42C2-F08BB4359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71251-D39A-5E09-F216-24A377E22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01BF6-7C04-B239-DBAC-0EAEC47B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8E183-9C51-E899-A25D-0D8A3F3D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06195-DA9B-FA02-4F36-4531621D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4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140A8-B5F0-BD03-C166-4CAEB1BD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8C533-B472-CF0C-1846-33A81CF26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88279-4681-E4F6-C18A-33E62018A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BBA38-312D-4E16-CCCB-305803DCE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C338B-78F4-E4B6-7CF0-8CC7DD73E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8C3F3-75D9-AA5B-F3E1-88D8ACF5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6BEF1-E596-923F-7A8D-F2AD1705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1CC6B-66C9-EEB5-D2C7-B6A90F17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3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134B9-3AB1-D0E3-9152-30325771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2DBC6-F298-AF08-652F-E9C8B735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638D8-620B-730E-7C42-18D56128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00AB0-50C2-5B8A-0EB9-1B97A578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2B664-301D-7632-6E9E-7FD03F85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A2A9A-200B-D99C-C3F1-12F2E733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5E940-6165-4D2C-0286-3C6C7C2C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7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57BD-A161-3392-7A55-F2D68F3DA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49889-A601-47F6-BDDF-3D2D0E8F4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F22A1-07EA-7701-E067-868ACD498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CB129-1939-28EC-D158-3BAF3936C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3841E-5FF9-2978-F01E-3755B4B8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6426C-3367-CF03-FDE2-933CC213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1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084D-26DC-3102-9A30-7EC46B2A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4F1FC-2295-0DA1-2054-8E31F1165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D29BD-0FE8-7D8E-0BA5-3AD1CD3D7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8A43-E734-39A9-970B-22576044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638D9-F8DF-151A-B3AD-ABA9ABCD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C0B5D-934D-A8A4-7EB8-BDD979C9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0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A135-0DD8-F382-A1DB-6C6D729D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A50C6-0CD3-D7F9-0765-A6AF8396A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695B5-5070-58E6-C755-B109BC99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7DCDF-9B18-BB63-264D-F56DE76F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792E2-520E-19D0-9777-CF7FA315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6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FECD8-EB24-A2D5-3112-D901CCC8D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6AA0D-B447-5355-C41F-6059099A1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5B626-5CD7-DD1C-6EB0-C8FDFDD6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63261-D277-419F-A564-6A63C7BA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202F-2456-6BE0-CDA9-AA0176AD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6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9E0C1F-E45E-D451-21F9-EAF06076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C1365-1966-5985-6FD6-8BB18A2E5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73D74-5217-D6E6-5660-08B47E2E0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4CA32-B585-9640-9306-9F2E1618D8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21435-8419-2C76-406F-07699945B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61CE-E2B7-45E0-55B5-2C977C01F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A124D-684C-A54C-9A0E-4EE61A56A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1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336C-21C2-53AC-BA33-C5C6C12C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62000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MTech in CSE (2024 - 2026)</a:t>
            </a:r>
            <a:br>
              <a:rPr lang="en-US" sz="4000" b="1" dirty="0">
                <a:solidFill>
                  <a:schemeClr val="accent1"/>
                </a:solidFill>
              </a:rPr>
            </a:br>
            <a:r>
              <a:rPr lang="en-GB" sz="4000" b="1" dirty="0">
                <a:solidFill>
                  <a:schemeClr val="accent1"/>
                </a:solidFill>
              </a:rPr>
              <a:t>Semester - IV</a:t>
            </a:r>
            <a:br>
              <a:rPr lang="en-US" sz="4000" b="1" dirty="0">
                <a:solidFill>
                  <a:schemeClr val="accent1"/>
                </a:solidFill>
              </a:rPr>
            </a:br>
            <a:r>
              <a:rPr lang="en-US" sz="4000" b="1" dirty="0">
                <a:solidFill>
                  <a:schemeClr val="accent1"/>
                </a:solidFill>
              </a:rPr>
              <a:t>UE24CS7A1A - Project Work Phase - 2</a:t>
            </a:r>
            <a:br>
              <a:rPr lang="en-US" sz="4000" b="1" dirty="0">
                <a:solidFill>
                  <a:schemeClr val="accent1"/>
                </a:solidFill>
              </a:rPr>
            </a:br>
            <a:r>
              <a:rPr lang="en-GB" sz="4000" b="1" dirty="0">
                <a:solidFill>
                  <a:schemeClr val="accent1"/>
                </a:solidFill>
              </a:rPr>
              <a:t>Review - 1</a:t>
            </a:r>
            <a:endParaRPr lang="en-US" sz="4000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11792-9438-B8C1-870F-74F6A8777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850" y="3722617"/>
            <a:ext cx="11284299" cy="2133599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Project Title	:  Real-Time Multi-Camera Person Tracking and Re-identification System</a:t>
            </a:r>
          </a:p>
          <a:p>
            <a:pPr algn="l"/>
            <a:r>
              <a:rPr lang="en-US" sz="2000" b="1" dirty="0"/>
              <a:t>Project ID	:  PW_24_CN_02</a:t>
            </a:r>
          </a:p>
          <a:p>
            <a:pPr algn="l"/>
            <a:r>
              <a:rPr lang="en-US" sz="2000" b="1" dirty="0"/>
              <a:t>Project Guide	:  Dr. Chaitra N</a:t>
            </a:r>
          </a:p>
          <a:p>
            <a:pPr algn="l"/>
            <a:r>
              <a:rPr lang="en-US" sz="2000" b="1" dirty="0"/>
              <a:t>Student Name	:  Durgesh Gowda C</a:t>
            </a:r>
          </a:p>
          <a:p>
            <a:pPr algn="l"/>
            <a:r>
              <a:rPr lang="en-US" sz="2000" b="1" dirty="0"/>
              <a:t>Student SRN	:  PES1PG24CS023</a:t>
            </a:r>
          </a:p>
        </p:txBody>
      </p:sp>
      <p:pic>
        <p:nvPicPr>
          <p:cNvPr id="7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A75AEA0D-C816-9390-7B7B-165B2A76D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D2BDB-F09B-FFF2-93CC-1A1B6B38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3811" y="6356350"/>
            <a:ext cx="5644376" cy="365125"/>
          </a:xfrm>
        </p:spPr>
        <p:txBody>
          <a:bodyPr/>
          <a:lstStyle/>
          <a:p>
            <a:pPr algn="l"/>
            <a:r>
              <a:rPr lang="en-US" b="1" dirty="0"/>
              <a:t>Real-Time CCTV Multi-Camera Person Tracking and Re-identification System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45199F-BB18-38A1-ED7D-E228E2FD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24D-684C-A54C-9A0E-4EE61A56A4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88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229D-776E-7A83-901C-017939649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Problem Statement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7FB32F-E74A-D458-8496-A2E10C033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/>
              <a:t>Surveillance systems use multiple cameras but monitoring them manually is difficult and inefficient.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Most systems can track a person only within one camera view.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They fail to recognize the same person across different cameras due to changes in lighting, angle, or appearance.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This leads to fragmented tracking and reduced effectiveness in real-time monitoring.</a:t>
            </a:r>
          </a:p>
          <a:p>
            <a:pPr marL="347663" indent="0" algn="just">
              <a:lnSpc>
                <a:spcPct val="110000"/>
              </a:lnSpc>
              <a:buNone/>
            </a:pPr>
            <a:r>
              <a:rPr lang="en-US" b="1" dirty="0"/>
              <a:t>This project aims to build a real-time multi-camera person tracking and re-identification system using computer vision and deep learning.</a:t>
            </a:r>
          </a:p>
        </p:txBody>
      </p:sp>
      <p:pic>
        <p:nvPicPr>
          <p:cNvPr id="4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6FB2A1BC-AFF9-F395-354D-62D398B41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207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4194-2E49-FFAE-5CEE-3A634FAC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75A1-0DB8-58FC-E864-E45082D1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Scope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1397D-F02A-55C4-5B91-416445DE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Develop a </a:t>
            </a:r>
            <a:r>
              <a:rPr lang="en-US" b="1" dirty="0"/>
              <a:t>real-time system</a:t>
            </a:r>
            <a:r>
              <a:rPr lang="en-US" dirty="0"/>
              <a:t> that can detect, track, and identify people across multiple CCTV cameras.</a:t>
            </a:r>
          </a:p>
          <a:p>
            <a:pPr>
              <a:lnSpc>
                <a:spcPct val="110000"/>
              </a:lnSpc>
            </a:pPr>
            <a:r>
              <a:rPr lang="en-US" dirty="0"/>
              <a:t>Implement </a:t>
            </a:r>
            <a:r>
              <a:rPr lang="en-US" b="1" dirty="0"/>
              <a:t>person detection, single-camera tracking, and cross-camera re-identification</a:t>
            </a:r>
            <a:r>
              <a:rPr lang="en-US" dirty="0"/>
              <a:t> modules.</a:t>
            </a:r>
          </a:p>
          <a:p>
            <a:pPr>
              <a:lnSpc>
                <a:spcPct val="110000"/>
              </a:lnSpc>
            </a:pPr>
            <a:r>
              <a:rPr lang="en-US" dirty="0"/>
              <a:t>Integrate results from multiple cameras to maintain a </a:t>
            </a:r>
            <a:r>
              <a:rPr lang="en-US" b="1" dirty="0"/>
              <a:t>consistent global identity</a:t>
            </a:r>
            <a:r>
              <a:rPr lang="en-US" dirty="0"/>
              <a:t> for each person.</a:t>
            </a:r>
          </a:p>
          <a:p>
            <a:pPr>
              <a:lnSpc>
                <a:spcPct val="110000"/>
              </a:lnSpc>
            </a:pPr>
            <a:r>
              <a:rPr lang="en-US" dirty="0"/>
              <a:t>Evaluate system performance on standard datasets and sample CCTV footage.</a:t>
            </a:r>
          </a:p>
          <a:p>
            <a:pPr>
              <a:lnSpc>
                <a:spcPct val="110000"/>
              </a:lnSpc>
            </a:pPr>
            <a:r>
              <a:rPr lang="en-US" dirty="0"/>
              <a:t>Demonstrate potential for use in </a:t>
            </a:r>
            <a:r>
              <a:rPr lang="en-US" b="1" dirty="0"/>
              <a:t>security, smart surveillance, and crowd monitoring</a:t>
            </a:r>
            <a:r>
              <a:rPr lang="en-US" dirty="0"/>
              <a:t> applications.</a:t>
            </a:r>
          </a:p>
        </p:txBody>
      </p:sp>
      <p:pic>
        <p:nvPicPr>
          <p:cNvPr id="7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6E618EEA-DEEE-EDB8-0863-00CC8F952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14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F45B-2F8A-36EC-98F2-1F885B09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Applications/Use cases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09AE01-2D1C-592C-5CC7-A7C264F08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Smart Surveillance and Security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Public Safety &amp; Law Enforcement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Retail and Commercial Analytics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Smart Cities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BDDB43D1-B11C-FD6D-FDE9-2399AE9A1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437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2A97-BF52-40DE-3585-A46D530EF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28AF-3EE0-C847-69DF-3006A56A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Design Constraints, Assumptions &amp;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9FEBE-FFF6-C0C0-82AF-EABFD45AB2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Constraints</a:t>
            </a:r>
          </a:p>
          <a:p>
            <a:r>
              <a:rPr lang="en-US" dirty="0"/>
              <a:t>Real-time processing on consumer hardware</a:t>
            </a:r>
          </a:p>
          <a:p>
            <a:r>
              <a:rPr lang="en-US" dirty="0"/>
              <a:t>Limited camera overlap</a:t>
            </a:r>
          </a:p>
          <a:p>
            <a:r>
              <a:rPr lang="en-US" dirty="0"/>
              <a:t>Appearance-based tracking without face recognition</a:t>
            </a:r>
          </a:p>
          <a:p>
            <a:r>
              <a:rPr lang="en-US" dirty="0"/>
              <a:t>CPU/MPS-based inference (no dedicated GPU required)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Assumptions</a:t>
            </a:r>
          </a:p>
          <a:p>
            <a:r>
              <a:rPr lang="en-US" dirty="0"/>
              <a:t>Cameras are static</a:t>
            </a:r>
          </a:p>
          <a:p>
            <a:r>
              <a:rPr lang="en-US" dirty="0"/>
              <a:t>People move at normal walking speeds</a:t>
            </a:r>
          </a:p>
          <a:p>
            <a:r>
              <a:rPr lang="en-US" dirty="0"/>
              <a:t>Person appearance remains moderately consistent</a:t>
            </a:r>
          </a:p>
          <a:p>
            <a:r>
              <a:rPr lang="en-US" dirty="0"/>
              <a:t>Bounding boxes are reasonably accurate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D03B-16A5-7043-CAE0-AA85FCCA08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Dependencies</a:t>
            </a:r>
          </a:p>
          <a:p>
            <a:r>
              <a:rPr lang="en-US" dirty="0"/>
              <a:t>Camera availability and permissions</a:t>
            </a:r>
          </a:p>
          <a:p>
            <a:r>
              <a:rPr lang="en-US" dirty="0"/>
              <a:t>Lighting conditions</a:t>
            </a:r>
          </a:p>
          <a:p>
            <a:r>
              <a:rPr lang="en-US" dirty="0"/>
              <a:t>Detection accuracy</a:t>
            </a:r>
          </a:p>
          <a:p>
            <a:r>
              <a:rPr lang="en-US" dirty="0"/>
              <a:t>Stable frame capture rate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8B8415A5-DE0E-1BDE-B516-A96EF3908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137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AE71-67D6-23CE-0903-804EA93A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Technologies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72020F-0F46-E62D-56FA-13587A38B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b="1" dirty="0"/>
              <a:t>Programming Language:</a:t>
            </a:r>
            <a:r>
              <a:rPr lang="en-US" dirty="0"/>
              <a:t> Python</a:t>
            </a:r>
          </a:p>
          <a:p>
            <a:r>
              <a:rPr lang="en-US" b="1" dirty="0"/>
              <a:t>Detection Model:</a:t>
            </a:r>
            <a:r>
              <a:rPr lang="en-US" dirty="0"/>
              <a:t> YOLO (</a:t>
            </a:r>
            <a:r>
              <a:rPr lang="en-US" dirty="0" err="1"/>
              <a:t>Ultralytics</a:t>
            </a:r>
            <a:r>
              <a:rPr lang="en-US" dirty="0"/>
              <a:t>)</a:t>
            </a:r>
          </a:p>
          <a:p>
            <a:r>
              <a:rPr lang="en-US" b="1" dirty="0"/>
              <a:t>Tracking Algorithm:</a:t>
            </a:r>
            <a:r>
              <a:rPr lang="en-US" dirty="0"/>
              <a:t> </a:t>
            </a:r>
            <a:r>
              <a:rPr lang="en-US" dirty="0" err="1"/>
              <a:t>ByteTrack</a:t>
            </a:r>
            <a:endParaRPr lang="en-US" dirty="0"/>
          </a:p>
          <a:p>
            <a:r>
              <a:rPr lang="en-US" b="1" dirty="0"/>
              <a:t>Feature Extraction:</a:t>
            </a:r>
            <a:r>
              <a:rPr lang="en-US" dirty="0"/>
              <a:t> </a:t>
            </a:r>
            <a:r>
              <a:rPr lang="en-US" dirty="0" err="1"/>
              <a:t>OSNet</a:t>
            </a:r>
            <a:endParaRPr lang="en-US" dirty="0"/>
          </a:p>
          <a:p>
            <a:r>
              <a:rPr lang="en-US" b="1" dirty="0"/>
              <a:t>Similarity Search:</a:t>
            </a:r>
            <a:r>
              <a:rPr lang="en-US" dirty="0"/>
              <a:t> FAISS</a:t>
            </a:r>
          </a:p>
          <a:p>
            <a:r>
              <a:rPr lang="en-US" b="1" dirty="0"/>
              <a:t>Computer Vision:</a:t>
            </a:r>
            <a:r>
              <a:rPr lang="en-US" dirty="0"/>
              <a:t> OpenCV</a:t>
            </a:r>
          </a:p>
          <a:p>
            <a:r>
              <a:rPr lang="en-US" b="1" dirty="0"/>
              <a:t>Deep Learning Framework:</a:t>
            </a:r>
            <a:r>
              <a:rPr lang="en-US" dirty="0"/>
              <a:t>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b="1" dirty="0"/>
              <a:t>Data Storage:</a:t>
            </a:r>
            <a:r>
              <a:rPr lang="en-US" dirty="0"/>
              <a:t> Pickle + FAISS Index</a:t>
            </a:r>
          </a:p>
          <a:p>
            <a:r>
              <a:rPr lang="en-US" b="1" dirty="0"/>
              <a:t>Visualization:</a:t>
            </a:r>
            <a:r>
              <a:rPr lang="en-US" dirty="0"/>
              <a:t> OpenCV UI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4F93FC4C-629D-1C50-3AE8-6B6057E2B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606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22A4-335B-60F7-F700-35B5DCB5B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3EFD-AB77-CB31-86F0-88D88195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Flow Diagram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19C78C16-3BB2-CCD3-0B2B-C816EE1C0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ACC9D53-99B5-F59C-7B63-5DBAC131D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16120" y="46579"/>
            <a:ext cx="4703952" cy="677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4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CB43-03E9-A987-8517-BD5CBD26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D761-3788-2CAF-BBA3-DD960E2A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System Architecture (3 Tiers)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FB498FB3-78A8-B552-645B-19BCC16AF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D3966F-6E33-0BFB-4AFE-DB6143F3D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Camera Tier</a:t>
            </a:r>
            <a:r>
              <a:rPr lang="en-US" dirty="0"/>
              <a:t> — One thread per camera: YOLO26 detection + </a:t>
            </a:r>
            <a:r>
              <a:rPr lang="en-US" dirty="0" err="1"/>
              <a:t>ByteTrack</a:t>
            </a:r>
            <a:r>
              <a:rPr lang="en-US" dirty="0"/>
              <a:t> tracking + </a:t>
            </a:r>
            <a:r>
              <a:rPr lang="en-US" dirty="0" err="1"/>
              <a:t>OSNet</a:t>
            </a:r>
            <a:r>
              <a:rPr lang="en-US" dirty="0"/>
              <a:t> embedding extraction. Optional face detection on upper crop.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 err="1"/>
              <a:t>ReID</a:t>
            </a:r>
            <a:r>
              <a:rPr lang="en-US" b="1" dirty="0"/>
              <a:t> Tier</a:t>
            </a:r>
            <a:r>
              <a:rPr lang="en-US" dirty="0"/>
              <a:t> — </a:t>
            </a:r>
            <a:r>
              <a:rPr lang="en-US" dirty="0" err="1"/>
              <a:t>GlobalReIDManager</a:t>
            </a:r>
            <a:r>
              <a:rPr lang="en-US" dirty="0"/>
              <a:t> runs three-step resolve pipeline. Archives dormant identities. Periodic merge pass fixes fragmentation.</a:t>
            </a:r>
          </a:p>
          <a:p>
            <a:pPr>
              <a:lnSpc>
                <a:spcPct val="110000"/>
              </a:lnSpc>
            </a:pPr>
            <a:endParaRPr lang="en-US" b="1" dirty="0"/>
          </a:p>
          <a:p>
            <a:pPr>
              <a:lnSpc>
                <a:spcPct val="110000"/>
              </a:lnSpc>
            </a:pPr>
            <a:r>
              <a:rPr lang="en-US" b="1" dirty="0"/>
              <a:t>UI &amp; Persistence Tier</a:t>
            </a:r>
            <a:r>
              <a:rPr lang="en-US" dirty="0"/>
              <a:t> — Live camera tiles, sidebar stats, ID validation alerts. </a:t>
            </a:r>
            <a:r>
              <a:rPr lang="en-US" dirty="0" err="1"/>
              <a:t>SessionRecorder</a:t>
            </a:r>
            <a:r>
              <a:rPr lang="en-US" dirty="0"/>
              <a:t> for offline benchmarking.</a:t>
            </a:r>
          </a:p>
        </p:txBody>
      </p:sp>
    </p:spTree>
    <p:extLst>
      <p:ext uri="{BB962C8B-B14F-4D97-AF65-F5344CB8AC3E}">
        <p14:creationId xmlns:p14="http://schemas.microsoft.com/office/powerpoint/2010/main" val="3442558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49D6F-01C7-007C-9CFB-ED4048B7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FC9F-D325-F78E-4A1D-11DE6594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Robust Gallery Distance</a:t>
            </a:r>
            <a:r>
              <a:rPr lang="en-US" dirty="0"/>
              <a:t> </a:t>
            </a:r>
            <a:r>
              <a:rPr lang="en-US" b="1" dirty="0"/>
              <a:t>Why Not Simple Minimum Distance?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C4FB45-C1A1-F253-F75B-A6929E28B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Minimum distance is vulnerable to a single blurry/occluded frame</a:t>
            </a:r>
          </a:p>
          <a:p>
            <a:r>
              <a:rPr lang="en-US" sz="2400" dirty="0" err="1"/>
              <a:t>FoundYou</a:t>
            </a:r>
            <a:r>
              <a:rPr lang="en-US" sz="2400" dirty="0"/>
              <a:t> uses </a:t>
            </a:r>
            <a:r>
              <a:rPr lang="en-US" sz="2400" b="1" dirty="0"/>
              <a:t>median per camera</a:t>
            </a:r>
            <a:r>
              <a:rPr lang="en-US" sz="2400" dirty="0"/>
              <a:t> (immune to 50% outliers)</a:t>
            </a:r>
          </a:p>
          <a:p>
            <a:r>
              <a:rPr lang="en-US" sz="2400" dirty="0"/>
              <a:t>Then </a:t>
            </a:r>
            <a:r>
              <a:rPr lang="en-US" sz="2400" b="1" dirty="0"/>
              <a:t>averages with merged gallery mean</a:t>
            </a:r>
            <a:r>
              <a:rPr lang="en-US" sz="2400" dirty="0"/>
              <a:t> to prevent any single well-lit camera from dominating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Formula:</a:t>
            </a:r>
            <a:r>
              <a:rPr lang="en-US" sz="2400" dirty="0"/>
              <a:t> </a:t>
            </a:r>
            <a:r>
              <a:rPr lang="en-US" sz="2400" dirty="0" err="1"/>
              <a:t>d</a:t>
            </a:r>
            <a:r>
              <a:rPr lang="en-US" sz="1600" dirty="0" err="1"/>
              <a:t>rob</a:t>
            </a:r>
            <a:r>
              <a:rPr lang="en-US" sz="2400" dirty="0"/>
              <a:t> = ½ × [ per-camera median cosine + merged-mean cosine ]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78DA8984-5AC1-D24A-5C3B-DFC6E3E10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1439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85C72-42E7-353B-4A45-B899B6FF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D2F2-3925-9D02-F43C-8C9B62CCD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Three-Step Resolve Pipeline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26A07F-80BC-84A7-AAB2-FFA0D14DE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Step A — Active Match</a:t>
            </a:r>
            <a:r>
              <a:rPr lang="en-US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Four false-positive guards: </a:t>
            </a:r>
            <a:r>
              <a:rPr lang="en-US" dirty="0"/>
              <a:t>camera occupancy check, gallery maturity gate (MIN_PROBES), per-scenario distance thresholds (0.30 same-cam / 0.40 cross-cam), robust distance replaces naive minimum</a:t>
            </a:r>
          </a:p>
          <a:p>
            <a:pPr marL="0" indent="0">
              <a:lnSpc>
                <a:spcPct val="120000"/>
              </a:lnSpc>
              <a:buNone/>
            </a:pP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Step B — Reacquisition</a:t>
            </a:r>
            <a:r>
              <a:rPr lang="en-US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FAISS index search over archived tracks → verified again by </a:t>
            </a:r>
            <a:r>
              <a:rPr lang="en-US" dirty="0" err="1"/>
              <a:t>d</a:t>
            </a:r>
            <a:r>
              <a:rPr lang="en-US" sz="2000" dirty="0" err="1"/>
              <a:t>rob</a:t>
            </a:r>
            <a:r>
              <a:rPr lang="en-US" dirty="0"/>
              <a:t> and face veto</a:t>
            </a:r>
          </a:p>
          <a:p>
            <a:pPr marL="0" indent="0">
              <a:lnSpc>
                <a:spcPct val="120000"/>
              </a:lnSpc>
              <a:buNone/>
            </a:pP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Step C — New Track</a:t>
            </a:r>
            <a:r>
              <a:rPr lang="en-US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If Steps A &amp; B both fail → assign a new unique global ID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180587D2-04F0-FE3C-6061-26C7A90BB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170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D7E5-9AE1-6D77-F586-8656B64F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4F876-D64F-5897-B517-3B663F21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Post-Hoc Active-Track Merge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0DDD42-B96D-0B45-9A37-D7080DDB2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The Fragmentation Problem</a:t>
            </a:r>
            <a:r>
              <a:rPr lang="en-US" dirty="0"/>
              <a:t> Early encounters have &lt; MIN_PROBES features → Steps A/B cannot yet match → two IDs may be created for the same person</a:t>
            </a:r>
          </a:p>
          <a:p>
            <a:r>
              <a:rPr lang="en-US" b="1" dirty="0"/>
              <a:t>Solution:</a:t>
            </a:r>
            <a:r>
              <a:rPr lang="en-US" dirty="0"/>
              <a:t> Every 2 seconds, evaluate all active track pairs: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Merge:</a:t>
            </a:r>
            <a:r>
              <a:rPr lang="en-US" dirty="0"/>
              <a:t> if robust distance &lt; 0.35 AND tracks are not simultaneously live on the same camera</a:t>
            </a:r>
          </a:p>
          <a:p>
            <a:pPr marL="0" indent="0">
              <a:buNone/>
            </a:pPr>
            <a:r>
              <a:rPr lang="en-US" dirty="0"/>
              <a:t>Winner = track with more detections; loser's features are absorbed</a:t>
            </a:r>
          </a:p>
          <a:p>
            <a:pPr marL="0" indent="0">
              <a:buNone/>
            </a:pPr>
            <a:r>
              <a:rPr lang="el-GR" dirty="0"/>
              <a:t>δ</a:t>
            </a:r>
            <a:r>
              <a:rPr lang="en-US" dirty="0"/>
              <a:t>merge = 0.35 &lt; </a:t>
            </a:r>
            <a:r>
              <a:rPr lang="el-GR" dirty="0"/>
              <a:t>δ</a:t>
            </a:r>
            <a:r>
              <a:rPr lang="en-US" dirty="0"/>
              <a:t>cross = 0.40 → only confident merges happen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C4D0AD4C-F05A-1208-80DA-7DD2E8931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9700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DDB2-841A-D7F8-4999-6438BC1A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EE39-7B56-04FB-A77B-B269569F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Optional Face Layer</a:t>
            </a:r>
            <a:r>
              <a:rPr lang="en-US" dirty="0"/>
              <a:t> </a:t>
            </a:r>
            <a:r>
              <a:rPr lang="en-US" b="1" dirty="0"/>
              <a:t>Face as Veto + Score Blend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E9F27E-48DD-7CA2-60FB-E2FB585C0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Face detection on top 50% of each body crop</a:t>
            </a:r>
          </a:p>
          <a:p>
            <a:r>
              <a:rPr lang="en-US" dirty="0"/>
              <a:t>Quality score = 0.5 × sharpness + 0.3 × size + 0.2 × aspect ratio</a:t>
            </a:r>
          </a:p>
          <a:p>
            <a:r>
              <a:rPr lang="en-US" dirty="0"/>
              <a:t>Only high-quality, high-confidence faces are used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Two roles:</a:t>
            </a:r>
          </a:p>
          <a:p>
            <a:r>
              <a:rPr lang="en-US" b="1" dirty="0"/>
              <a:t>Veto</a:t>
            </a:r>
            <a:r>
              <a:rPr lang="en-US" dirty="0"/>
              <a:t> — if face cosine distance &gt; 0.55, block the body-match</a:t>
            </a:r>
          </a:p>
          <a:p>
            <a:r>
              <a:rPr lang="en-US" b="1" dirty="0"/>
              <a:t>Blend</a:t>
            </a:r>
            <a:r>
              <a:rPr lang="en-US" dirty="0"/>
              <a:t> — if both sides are usable: d = 0.7 × body + 0.3 × 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Falls back to body-only gracefully when face is absent.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CF220064-79C5-A770-189D-E36B900C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541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F773-8BF2-94E9-3383-B6757FFD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B4BE-1732-B824-D933-145AF134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Runtime ID Validation</a:t>
            </a:r>
            <a:r>
              <a:rPr lang="en-US" dirty="0"/>
              <a:t> </a:t>
            </a:r>
            <a:r>
              <a:rPr lang="en-US" b="1" dirty="0"/>
              <a:t>IDValidator (3 Alerts)</a:t>
            </a:r>
            <a:endParaRPr lang="en-US" dirty="0"/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5FF50B6E-261E-2AC6-2A73-79B20069B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FBAFB86-B2B1-80D8-F44F-5B204EA62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672174"/>
              </p:ext>
            </p:extLst>
          </p:nvPr>
        </p:nvGraphicFramePr>
        <p:xfrm>
          <a:off x="1394460" y="2687320"/>
          <a:ext cx="94030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640">
                  <a:extLst>
                    <a:ext uri="{9D8B030D-6E8A-4147-A177-3AD203B41FA5}">
                      <a16:colId xmlns:a16="http://schemas.microsoft.com/office/drawing/2014/main" val="4220664570"/>
                    </a:ext>
                  </a:extLst>
                </a:gridCol>
                <a:gridCol w="3982481">
                  <a:extLst>
                    <a:ext uri="{9D8B030D-6E8A-4147-A177-3AD203B41FA5}">
                      <a16:colId xmlns:a16="http://schemas.microsoft.com/office/drawing/2014/main" val="1637957920"/>
                    </a:ext>
                  </a:extLst>
                </a:gridCol>
                <a:gridCol w="3962959">
                  <a:extLst>
                    <a:ext uri="{9D8B030D-6E8A-4147-A177-3AD203B41FA5}">
                      <a16:colId xmlns:a16="http://schemas.microsoft.com/office/drawing/2014/main" val="2736752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Likely Cause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478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</a:t>
                      </a:r>
                      <a:r>
                        <a:rPr lang="en-US" sz="1400" dirty="0" err="1"/>
                        <a:t>rob</a:t>
                      </a:r>
                      <a:r>
                        <a:rPr lang="en-US" dirty="0"/>
                        <a:t> &lt; 0.28 across cameras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Flipped camera / similar clothing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421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DUPLICATE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Same camera, d &lt; </a:t>
                      </a:r>
                      <a:r>
                        <a:rPr lang="el-GR" dirty="0"/>
                        <a:t>δ</a:t>
                      </a:r>
                      <a:r>
                        <a:rPr lang="en-US" sz="1400" dirty="0"/>
                        <a:t>merge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ByteTrack</a:t>
                      </a:r>
                      <a:r>
                        <a:rPr lang="en-US" dirty="0"/>
                        <a:t> split one person into two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149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intra-gallery variance &gt; 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Gallery contaminated by multiple 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688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150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B4384-3577-7A12-BD30-99B26BF3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6D13-824F-C50E-7A91-9EDB0EDB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Expected Deliverables (continued)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1C5A7DD-C345-B6B1-C795-33ECC228F8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1873" y="1909415"/>
          <a:ext cx="11753386" cy="4446783"/>
        </p:xfrm>
        <a:graphic>
          <a:graphicData uri="http://schemas.openxmlformats.org/drawingml/2006/table">
            <a:tbl>
              <a:tblPr firstRow="1"/>
              <a:tblGrid>
                <a:gridCol w="3021981">
                  <a:extLst>
                    <a:ext uri="{9D8B030D-6E8A-4147-A177-3AD203B41FA5}">
                      <a16:colId xmlns:a16="http://schemas.microsoft.com/office/drawing/2014/main" val="799112114"/>
                    </a:ext>
                  </a:extLst>
                </a:gridCol>
                <a:gridCol w="5073805">
                  <a:extLst>
                    <a:ext uri="{9D8B030D-6E8A-4147-A177-3AD203B41FA5}">
                      <a16:colId xmlns:a16="http://schemas.microsoft.com/office/drawing/2014/main" val="75658058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4754378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667670169"/>
                    </a:ext>
                  </a:extLst>
                </a:gridCol>
              </a:tblGrid>
              <a:tr h="49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Phase / Task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Description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Duration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Timeline (Weeks)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891834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1. Project Planning &amp; Research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Review literature, define objectives, gather resources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1 - 2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800920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2. System Design &amp; Architecture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Design system modules: detection, tracking, </a:t>
                      </a:r>
                      <a:r>
                        <a:rPr lang="en-US" sz="1400" dirty="0" err="1"/>
                        <a:t>ReID</a:t>
                      </a:r>
                      <a:r>
                        <a:rPr lang="en-US" sz="1400" dirty="0"/>
                        <a:t>, database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3 - 4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063830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3. Data Collection &amp; Preprocessing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Collect CCTV/video data, prepare datasets for training/testing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1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5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701422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4. Model Selection &amp; Development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Implement YOLOv8 for detection and </a:t>
                      </a:r>
                      <a:r>
                        <a:rPr lang="en-US" sz="1400" dirty="0" err="1"/>
                        <a:t>FastReID</a:t>
                      </a:r>
                      <a:r>
                        <a:rPr lang="en-US" sz="1400" dirty="0"/>
                        <a:t> for </a:t>
                      </a:r>
                      <a:r>
                        <a:rPr lang="en-US" sz="1400" dirty="0" err="1"/>
                        <a:t>ReID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3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6 - 8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826096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5. Integration &amp; Real-Time Pipeline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Combine detection, tracking, and cross-camera ID modules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9 - 10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767605"/>
                  </a:ext>
                </a:extLst>
              </a:tr>
              <a:tr h="516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6. Testing &amp; Evaluation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Evaluate with MOTA, IDF1, and </a:t>
                      </a:r>
                      <a:r>
                        <a:rPr lang="en-US" sz="1400" dirty="0" err="1"/>
                        <a:t>mAP</a:t>
                      </a:r>
                      <a:r>
                        <a:rPr lang="en-US" sz="1400" dirty="0"/>
                        <a:t> metrics; optimize performance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11 - 12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445353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7. Documentation &amp; Report Writing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Prepare project report, code documentation, and presentation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2 weeks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13 - 14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468658"/>
                  </a:ext>
                </a:extLst>
              </a:tr>
              <a:tr h="491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8. Final Presentation &amp; Demo</a:t>
                      </a:r>
                      <a:endParaRPr lang="en-US" sz="1400" dirty="0"/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Present working prototype and final results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1 week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Week 15</a:t>
                      </a:r>
                    </a:p>
                  </a:txBody>
                  <a:tcPr marL="53647" marR="53647" marT="26823" marB="268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432538"/>
                  </a:ext>
                </a:extLst>
              </a:tr>
            </a:tbl>
          </a:graphicData>
        </a:graphic>
      </p:graphicFrame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EC61C759-E9C3-78E9-5E33-392C2A434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093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857E-5235-BE5C-3B48-39A88837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3F26-3A87-A1D8-541F-DE81AE9B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Problems Faced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BB05B0B9-BD15-85C0-FD5D-1AAAFFF5D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E28FC-AC1D-5AC9-D829-197673A81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Camera Clarity (low resolution and differential resolution)</a:t>
            </a:r>
          </a:p>
          <a:p>
            <a:r>
              <a:rPr lang="en-US" dirty="0"/>
              <a:t>Camera Angle</a:t>
            </a:r>
          </a:p>
          <a:p>
            <a:r>
              <a:rPr lang="en-US" dirty="0"/>
              <a:t>Occlusion</a:t>
            </a:r>
          </a:p>
          <a:p>
            <a:r>
              <a:rPr lang="en-US" dirty="0"/>
              <a:t>Partial visibility or no visibility of Faces</a:t>
            </a:r>
          </a:p>
          <a:p>
            <a:r>
              <a:rPr lang="en-US" dirty="0"/>
              <a:t>Lighting</a:t>
            </a:r>
          </a:p>
          <a:p>
            <a:r>
              <a:rPr lang="en-US" dirty="0"/>
              <a:t>Clothes (Changing and Uniform)</a:t>
            </a:r>
          </a:p>
          <a:p>
            <a:r>
              <a:rPr lang="en-US" dirty="0"/>
              <a:t>Cross-Camera ID matching</a:t>
            </a:r>
          </a:p>
        </p:txBody>
      </p:sp>
    </p:spTree>
    <p:extLst>
      <p:ext uri="{BB962C8B-B14F-4D97-AF65-F5344CB8AC3E}">
        <p14:creationId xmlns:p14="http://schemas.microsoft.com/office/powerpoint/2010/main" val="3510064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9FA5-CCEF-44A0-4977-8EDD2B19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058D-6F22-3299-D212-E1B741D29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Results</a:t>
            </a:r>
          </a:p>
        </p:txBody>
      </p:sp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B2E24C52-5DB6-99C8-1AE4-49B05D1CB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7EEFC-138E-DA54-3809-A2ADAA4DD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Significant reduction in ID switching</a:t>
            </a:r>
          </a:p>
          <a:p>
            <a:r>
              <a:rPr lang="en-US" dirty="0"/>
              <a:t>Accurate re-identification after occlusion</a:t>
            </a:r>
          </a:p>
          <a:p>
            <a:r>
              <a:rPr lang="en-US" dirty="0"/>
              <a:t>Stable identity tracking across cameras</a:t>
            </a:r>
          </a:p>
          <a:p>
            <a:r>
              <a:rPr lang="en-US" dirty="0"/>
              <a:t>Controlled and safe ID reuse</a:t>
            </a:r>
          </a:p>
          <a:p>
            <a:r>
              <a:rPr lang="en-US" dirty="0"/>
              <a:t>Real-time performance on standard hardware</a:t>
            </a:r>
          </a:p>
          <a:p>
            <a:r>
              <a:rPr lang="en-US" dirty="0"/>
              <a:t>Improved robustness compared to baseline trackers</a:t>
            </a:r>
          </a:p>
        </p:txBody>
      </p:sp>
    </p:spTree>
    <p:extLst>
      <p:ext uri="{BB962C8B-B14F-4D97-AF65-F5344CB8AC3E}">
        <p14:creationId xmlns:p14="http://schemas.microsoft.com/office/powerpoint/2010/main" val="2040058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36A55-E783-8FF1-8834-851500BA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CSE\Downloads\M.Tech Coordination\2023-2025Batch\pesu-logo.png">
            <a:extLst>
              <a:ext uri="{FF2B5EF4-FFF2-40B4-BE49-F238E27FC236}">
                <a16:creationId xmlns:a16="http://schemas.microsoft.com/office/drawing/2014/main" id="{11ECFE60-158C-09D2-6DAD-2AECFB648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00407" y="0"/>
            <a:ext cx="1490628" cy="762000"/>
          </a:xfrm>
          <a:prstGeom prst="rect">
            <a:avLst/>
          </a:prstGeom>
          <a:noFill/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D59BD59-B7D2-43A2-83EC-62144BC7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260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1025</Words>
  <Application>Microsoft Macintosh PowerPoint</Application>
  <PresentationFormat>Widescreen</PresentationFormat>
  <Paragraphs>158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MTech in CSE (2024 - 2026) Semester - IV UE24CS7A1A - Project Work Phase - 2 Review - 1</vt:lpstr>
      <vt:lpstr>Problem Statement</vt:lpstr>
      <vt:lpstr>Scope</vt:lpstr>
      <vt:lpstr>Applications/Use cases</vt:lpstr>
      <vt:lpstr>Design Constraints, Assumptions &amp; Dependencies</vt:lpstr>
      <vt:lpstr>Technologies Used</vt:lpstr>
      <vt:lpstr>Flow Diagram</vt:lpstr>
      <vt:lpstr>System Architecture (3 Tiers)</vt:lpstr>
      <vt:lpstr>Robust Gallery Distance Why Not Simple Minimum Distance?</vt:lpstr>
      <vt:lpstr>Three-Step Resolve Pipeline</vt:lpstr>
      <vt:lpstr>Post-Hoc Active-Track Merge</vt:lpstr>
      <vt:lpstr>Optional Face Layer Face as Veto + Score Blend</vt:lpstr>
      <vt:lpstr>Runtime ID Validation IDValidator (3 Alerts)</vt:lpstr>
      <vt:lpstr>Expected Deliverables (continued)</vt:lpstr>
      <vt:lpstr>Problems Faced</vt:lpstr>
      <vt:lpstr>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Durgesh Gowda</dc:creator>
  <cp:lastModifiedBy>Durgesh Gowda</cp:lastModifiedBy>
  <cp:revision>36</cp:revision>
  <cp:lastPrinted>2025-11-13T09:38:08Z</cp:lastPrinted>
  <dcterms:created xsi:type="dcterms:W3CDTF">2025-11-04T19:50:08Z</dcterms:created>
  <dcterms:modified xsi:type="dcterms:W3CDTF">2026-04-15T08:38:36Z</dcterms:modified>
</cp:coreProperties>
</file>