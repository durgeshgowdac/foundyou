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0" r:id="rId7"/>
    <p:sldId id="268" r:id="rId8"/>
    <p:sldId id="276" r:id="rId9"/>
    <p:sldId id="269" r:id="rId10"/>
    <p:sldId id="274" r:id="rId11"/>
    <p:sldId id="270" r:id="rId12"/>
    <p:sldId id="271" r:id="rId13"/>
    <p:sldId id="272" r:id="rId14"/>
    <p:sldId id="273" r:id="rId15"/>
    <p:sldId id="263" r:id="rId16"/>
    <p:sldId id="266" r:id="rId17"/>
    <p:sldId id="275" r:id="rId18"/>
    <p:sldId id="278" r:id="rId19"/>
    <p:sldId id="277" r:id="rId20"/>
    <p:sldId id="279" r:id="rId21"/>
    <p:sldId id="280" r:id="rId22"/>
    <p:sldId id="281" r:id="rId23"/>
    <p:sldId id="282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9"/>
    <p:restoredTop sz="96904"/>
  </p:normalViewPr>
  <p:slideViewPr>
    <p:cSldViewPr snapToGrid="0">
      <p:cViewPr varScale="1">
        <p:scale>
          <a:sx n="139" d="100"/>
          <a:sy n="139" d="100"/>
        </p:scale>
        <p:origin x="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8562-849E-5646-A922-C19A11EAA8B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8E566-A59F-0D45-A7F0-B07B8C73F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CBAF-4093-8B2F-0031-50038AA2E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868EE-A38D-2348-2356-EB641077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4B19-C05F-EA52-61B6-4564F44B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8410-FA1C-CF4F-61CA-48CD4203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EEF48-1C1C-F4C4-1A49-6A08510C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2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D92C-B147-D473-8C3F-10E082EC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C2109-FBF8-E163-848B-153F86DB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262DC-9580-9FA3-0CEC-E96F0D77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BEDDD-9115-0134-1CAC-1CEC54A2D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FB977-533B-49C8-2A4F-D5DD3041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6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D851-CF88-A8AA-298B-B16190B3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C3BD6-60AE-BC06-CEC5-E20BBA9E4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03994-B0FD-E049-22A3-6CB821ED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1855-4ACA-9DB1-6658-FB029570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D8F54-C5E4-841D-BA17-AA65B64B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3C03-86A9-D373-FFFA-5491C0D4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30BD-3D68-DC3C-42C2-F08BB4359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71251-D39A-5E09-F216-24A377E22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01BF6-7C04-B239-DBAC-0EAEC47B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8E183-9C51-E899-A25D-0D8A3F3D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06195-DA9B-FA02-4F36-4531621D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4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40A8-B5F0-BD03-C166-4CAEB1BD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8C533-B472-CF0C-1846-33A81CF26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88279-4681-E4F6-C18A-33E62018A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BBA38-312D-4E16-CCCB-305803DCE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C338B-78F4-E4B6-7CF0-8CC7DD73E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8C3F3-75D9-AA5B-F3E1-88D8ACF5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6BEF1-E596-923F-7A8D-F2AD1705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1CC6B-66C9-EEB5-D2C7-B6A90F17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3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34B9-3AB1-D0E3-9152-30325771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2DBC6-F298-AF08-652F-E9C8B735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638D8-620B-730E-7C42-18D56128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00AB0-50C2-5B8A-0EB9-1B97A578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2B664-301D-7632-6E9E-7FD03F85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A2A9A-200B-D99C-C3F1-12F2E733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5E940-6165-4D2C-0286-3C6C7C2C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7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57BD-A161-3392-7A55-F2D68F3D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49889-A601-47F6-BDDF-3D2D0E8F4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F22A1-07EA-7701-E067-868ACD498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CB129-1939-28EC-D158-3BAF3936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3841E-5FF9-2978-F01E-3755B4B8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6426C-3367-CF03-FDE2-933CC213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1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084D-26DC-3102-9A30-7EC46B2A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4F1FC-2295-0DA1-2054-8E31F1165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D29BD-0FE8-7D8E-0BA5-3AD1CD3D7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8A43-E734-39A9-970B-22576044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638D9-F8DF-151A-B3AD-ABA9ABCD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C0B5D-934D-A8A4-7EB8-BDD979C9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0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A135-0DD8-F382-A1DB-6C6D729D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A50C6-0CD3-D7F9-0765-A6AF8396A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695B5-5070-58E6-C755-B109BC99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7DCDF-9B18-BB63-264D-F56DE76F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792E2-520E-19D0-9777-CF7FA315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6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FECD8-EB24-A2D5-3112-D901CCC8D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6AA0D-B447-5355-C41F-6059099A1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5B626-5CD7-DD1C-6EB0-C8FDFDD6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63261-D277-419F-A564-6A63C7BA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202F-2456-6BE0-CDA9-AA0176AD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6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9E0C1F-E45E-D451-21F9-EAF06076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C1365-1966-5985-6FD6-8BB18A2E5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73D74-5217-D6E6-5660-08B47E2E0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4CA32-B585-9640-9306-9F2E1618D816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21435-8419-2C76-406F-07699945B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61CE-E2B7-45E0-55B5-2C977C01F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1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36C-21C2-53AC-BA33-C5C6C12C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62000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MTech in CSE (2024 - 2026)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GB" sz="4000" b="1" dirty="0">
                <a:solidFill>
                  <a:schemeClr val="accent1"/>
                </a:solidFill>
              </a:rPr>
              <a:t>Semester - IV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US" sz="4000" b="1" dirty="0">
                <a:solidFill>
                  <a:schemeClr val="accent1"/>
                </a:solidFill>
              </a:rPr>
              <a:t>UE24CS7A1A - Project Work Phase - 2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GB" sz="4000" b="1" dirty="0">
                <a:solidFill>
                  <a:schemeClr val="accent1"/>
                </a:solidFill>
              </a:rPr>
              <a:t>Review - 1</a:t>
            </a:r>
            <a:endParaRPr lang="en-US" sz="4000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11792-9438-B8C1-870F-74F6A8777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850" y="3722617"/>
            <a:ext cx="11284299" cy="2133599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Project Title	:  Real-Time Multi-Camera Person Tracking and Re-identification System</a:t>
            </a:r>
          </a:p>
          <a:p>
            <a:pPr algn="l"/>
            <a:r>
              <a:rPr lang="en-US" sz="2000" b="1" dirty="0"/>
              <a:t>Project ID	:  PW_24_CN_02</a:t>
            </a:r>
          </a:p>
          <a:p>
            <a:pPr algn="l"/>
            <a:r>
              <a:rPr lang="en-US" sz="2000" b="1" dirty="0"/>
              <a:t>Project Guide	:  Dr. Chaitra N</a:t>
            </a:r>
          </a:p>
          <a:p>
            <a:pPr algn="l"/>
            <a:r>
              <a:rPr lang="en-US" sz="2000" b="1" dirty="0"/>
              <a:t>Student Name	:  Durgesh Gowda C</a:t>
            </a:r>
          </a:p>
          <a:p>
            <a:pPr algn="l"/>
            <a:r>
              <a:rPr lang="en-US" sz="2000" b="1" dirty="0"/>
              <a:t>Student SRN	:  PES1PG24CS023</a:t>
            </a:r>
          </a:p>
        </p:txBody>
      </p:sp>
      <p:pic>
        <p:nvPicPr>
          <p:cNvPr id="7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A75AEA0D-C816-9390-7B7B-165B2A76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D2BDB-F09B-FFF2-93CC-1A1B6B38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3811" y="6356350"/>
            <a:ext cx="5644376" cy="365125"/>
          </a:xfrm>
        </p:spPr>
        <p:txBody>
          <a:bodyPr/>
          <a:lstStyle/>
          <a:p>
            <a:pPr algn="l"/>
            <a:r>
              <a:rPr lang="en-US" b="1" dirty="0"/>
              <a:t>Real-Time CCTV Multi-Camera Person Tracking and Re-identification System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45199F-BB18-38A1-ED7D-E228E2FD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8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229D-776E-7A83-901C-01793964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Problem Statement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FB32F-E74A-D458-8496-A2E10C03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Surveillance systems use multiple cameras but monitoring them manually is difficult and inefficient.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Most systems can track a person only within one camera view.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They fail to recognize the same person across different cameras due to changes in lighting, angle, or appearance.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This leads to fragmented tracking and reduced effectiveness in real-time monitoring.</a:t>
            </a:r>
          </a:p>
          <a:p>
            <a:pPr marL="347663" indent="0" algn="just">
              <a:lnSpc>
                <a:spcPct val="110000"/>
              </a:lnSpc>
              <a:buNone/>
            </a:pPr>
            <a:r>
              <a:rPr lang="en-US" b="1" dirty="0"/>
              <a:t>This project aims to build a real-time multi-camera person tracking and re-identification system using computer vision and deep learning.</a:t>
            </a:r>
          </a:p>
        </p:txBody>
      </p:sp>
      <p:pic>
        <p:nvPicPr>
          <p:cNvPr id="4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6FB2A1BC-AFF9-F395-354D-62D398B41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207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4194-2E49-FFAE-5CEE-3A634FAC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75A1-0DB8-58FC-E864-E45082D1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Scope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1397D-F02A-55C4-5B91-416445DE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Develop a </a:t>
            </a:r>
            <a:r>
              <a:rPr lang="en-US" b="1" dirty="0"/>
              <a:t>real-time system</a:t>
            </a:r>
            <a:r>
              <a:rPr lang="en-US" dirty="0"/>
              <a:t> that can detect, track, and identify people across multiple CCTV cameras.</a:t>
            </a:r>
          </a:p>
          <a:p>
            <a:pPr>
              <a:lnSpc>
                <a:spcPct val="110000"/>
              </a:lnSpc>
            </a:pPr>
            <a:r>
              <a:rPr lang="en-US" dirty="0"/>
              <a:t>Implement </a:t>
            </a:r>
            <a:r>
              <a:rPr lang="en-US" b="1" dirty="0"/>
              <a:t>person detection, single-camera tracking, and cross-camera re-identification</a:t>
            </a:r>
            <a:r>
              <a:rPr lang="en-US" dirty="0"/>
              <a:t> modules.</a:t>
            </a:r>
          </a:p>
          <a:p>
            <a:pPr>
              <a:lnSpc>
                <a:spcPct val="110000"/>
              </a:lnSpc>
            </a:pPr>
            <a:r>
              <a:rPr lang="en-US" dirty="0"/>
              <a:t>Integrate results from multiple cameras to maintain a </a:t>
            </a:r>
            <a:r>
              <a:rPr lang="en-US" b="1" dirty="0"/>
              <a:t>consistent global identity</a:t>
            </a:r>
            <a:r>
              <a:rPr lang="en-US" dirty="0"/>
              <a:t> for each person.</a:t>
            </a:r>
          </a:p>
          <a:p>
            <a:pPr>
              <a:lnSpc>
                <a:spcPct val="110000"/>
              </a:lnSpc>
            </a:pPr>
            <a:r>
              <a:rPr lang="en-US" dirty="0"/>
              <a:t>Evaluate system performance on standard datasets and sample CCTV footage.</a:t>
            </a:r>
          </a:p>
          <a:p>
            <a:pPr>
              <a:lnSpc>
                <a:spcPct val="110000"/>
              </a:lnSpc>
            </a:pPr>
            <a:r>
              <a:rPr lang="en-US" dirty="0"/>
              <a:t>Demonstrate potential for use in </a:t>
            </a:r>
            <a:r>
              <a:rPr lang="en-US" b="1" dirty="0"/>
              <a:t>security, smart surveillance, and crowd monitoring</a:t>
            </a:r>
            <a:r>
              <a:rPr lang="en-US" dirty="0"/>
              <a:t> applications.</a:t>
            </a:r>
          </a:p>
        </p:txBody>
      </p:sp>
      <p:pic>
        <p:nvPicPr>
          <p:cNvPr id="7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6E618EEA-DEEE-EDB8-0863-00CC8F952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14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F45B-2F8A-36EC-98F2-1F885B09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Applications/Use cases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09AE01-2D1C-592C-5CC7-A7C264F08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Smart Surveillance and Security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Public Safety &amp; Law Enforcement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Retail and Commercial Analytics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Smart Cities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BDDB43D1-B11C-FD6D-FDE9-2399AE9A1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437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2A97-BF52-40DE-3585-A46D530E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28AF-3EE0-C847-69DF-3006A56A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Design Constraints, Assumptions &amp;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9FEBE-FFF6-C0C0-82AF-EABFD45AB2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Constraints</a:t>
            </a:r>
          </a:p>
          <a:p>
            <a:r>
              <a:rPr lang="en-US" dirty="0"/>
              <a:t>Real-time processing on consumer hardware</a:t>
            </a:r>
          </a:p>
          <a:p>
            <a:r>
              <a:rPr lang="en-US" dirty="0"/>
              <a:t>Limited camera overlap</a:t>
            </a:r>
          </a:p>
          <a:p>
            <a:r>
              <a:rPr lang="en-US" dirty="0"/>
              <a:t>Appearance-based tracking without face recognition</a:t>
            </a:r>
          </a:p>
          <a:p>
            <a:r>
              <a:rPr lang="en-US" dirty="0"/>
              <a:t>CPU/MPS-based inference (no dedicated GPU required)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Assumptions</a:t>
            </a:r>
          </a:p>
          <a:p>
            <a:r>
              <a:rPr lang="en-US" dirty="0"/>
              <a:t>Cameras are static</a:t>
            </a:r>
          </a:p>
          <a:p>
            <a:r>
              <a:rPr lang="en-US" dirty="0"/>
              <a:t>People move at normal walking speeds</a:t>
            </a:r>
          </a:p>
          <a:p>
            <a:r>
              <a:rPr lang="en-US" dirty="0"/>
              <a:t>Person appearance remains moderately consistent</a:t>
            </a:r>
          </a:p>
          <a:p>
            <a:r>
              <a:rPr lang="en-US" dirty="0"/>
              <a:t>Bounding boxes are reasonably accurate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D03B-16A5-7043-CAE0-AA85FCCA08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Dependencies</a:t>
            </a:r>
          </a:p>
          <a:p>
            <a:r>
              <a:rPr lang="en-US" dirty="0"/>
              <a:t>Camera availability and permissions</a:t>
            </a:r>
          </a:p>
          <a:p>
            <a:r>
              <a:rPr lang="en-US" dirty="0"/>
              <a:t>Lighting conditions</a:t>
            </a:r>
          </a:p>
          <a:p>
            <a:r>
              <a:rPr lang="en-US" dirty="0"/>
              <a:t>Detection accuracy</a:t>
            </a:r>
          </a:p>
          <a:p>
            <a:r>
              <a:rPr lang="en-US" dirty="0"/>
              <a:t>Stable frame capture rate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8B8415A5-DE0E-1BDE-B516-A96EF3908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137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AE71-67D6-23CE-0903-804EA93A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Technologies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72020F-0F46-E62D-56FA-13587A38B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b="1" dirty="0"/>
              <a:t>Programming Language:</a:t>
            </a:r>
            <a:r>
              <a:rPr lang="en-US" dirty="0"/>
              <a:t> Python</a:t>
            </a:r>
          </a:p>
          <a:p>
            <a:r>
              <a:rPr lang="en-US" b="1" dirty="0"/>
              <a:t>Detection Model:</a:t>
            </a:r>
            <a:r>
              <a:rPr lang="en-US" dirty="0"/>
              <a:t> YOLO (</a:t>
            </a:r>
            <a:r>
              <a:rPr lang="en-US" dirty="0" err="1"/>
              <a:t>Ultralytics</a:t>
            </a:r>
            <a:r>
              <a:rPr lang="en-US" dirty="0"/>
              <a:t>)</a:t>
            </a:r>
          </a:p>
          <a:p>
            <a:r>
              <a:rPr lang="en-US" b="1" dirty="0"/>
              <a:t>Feature Extraction:</a:t>
            </a:r>
            <a:r>
              <a:rPr lang="en-US" dirty="0"/>
              <a:t> ResNet-18 (</a:t>
            </a:r>
            <a:r>
              <a:rPr lang="en-US" dirty="0" err="1"/>
              <a:t>PyTorch</a:t>
            </a:r>
            <a:r>
              <a:rPr lang="en-US" dirty="0"/>
              <a:t>)</a:t>
            </a:r>
          </a:p>
          <a:p>
            <a:r>
              <a:rPr lang="en-US" b="1" dirty="0"/>
              <a:t>Similarity Search:</a:t>
            </a:r>
            <a:r>
              <a:rPr lang="en-US" dirty="0"/>
              <a:t> FAISS</a:t>
            </a:r>
          </a:p>
          <a:p>
            <a:r>
              <a:rPr lang="en-US" b="1" dirty="0"/>
              <a:t>Computer Vision:</a:t>
            </a:r>
            <a:r>
              <a:rPr lang="en-US" dirty="0"/>
              <a:t> OpenCV</a:t>
            </a:r>
          </a:p>
          <a:p>
            <a:r>
              <a:rPr lang="en-US" b="1" dirty="0"/>
              <a:t>Deep Learning Framework:</a:t>
            </a:r>
            <a:r>
              <a:rPr lang="en-US" dirty="0"/>
              <a:t>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b="1" dirty="0"/>
              <a:t>Data Storage:</a:t>
            </a:r>
            <a:r>
              <a:rPr lang="en-US" dirty="0"/>
              <a:t> Pickle + FAISS Index</a:t>
            </a:r>
          </a:p>
          <a:p>
            <a:r>
              <a:rPr lang="en-US" b="1" dirty="0"/>
              <a:t>Visualization:</a:t>
            </a:r>
            <a:r>
              <a:rPr lang="en-US" dirty="0"/>
              <a:t> OpenCV UI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4F93FC4C-629D-1C50-3AE8-6B6057E2B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606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22A4-335B-60F7-F700-35B5DCB5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3EFD-AB77-CB31-86F0-88D88195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Flow Diagram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0F26D88-30FA-3FC1-B97A-E42EE27E7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373"/>
          <a:stretch>
            <a:fillRect/>
          </a:stretch>
        </p:blipFill>
        <p:spPr>
          <a:xfrm>
            <a:off x="4540249" y="5421"/>
            <a:ext cx="4793321" cy="6803684"/>
          </a:xfrm>
          <a:prstGeom prst="rect">
            <a:avLst/>
          </a:prstGeom>
        </p:spPr>
      </p:pic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19C78C16-3BB2-CCD3-0B2B-C816EE1C0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364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CB43-03E9-A987-8517-BD5CBD26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D761-3788-2CAF-BBA3-DD960E2A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Proposed Methodology / Approach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FB498FB3-78A8-B552-645B-19BCC16AF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D3966F-6E33-0BFB-4AFE-DB6143F3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Capture frames from multiple cameras</a:t>
            </a:r>
          </a:p>
          <a:p>
            <a:r>
              <a:rPr lang="en-US" dirty="0"/>
              <a:t>Detect persons using YOLO</a:t>
            </a:r>
          </a:p>
          <a:p>
            <a:r>
              <a:rPr lang="en-US" dirty="0"/>
              <a:t>Extract appearance embeddings using ResNet-18</a:t>
            </a:r>
          </a:p>
          <a:p>
            <a:r>
              <a:rPr lang="en-US" dirty="0"/>
              <a:t>Match detections with active tracks using:</a:t>
            </a:r>
          </a:p>
          <a:p>
            <a:pPr lvl="1"/>
            <a:r>
              <a:rPr lang="en-US" dirty="0"/>
              <a:t>Visual similarity</a:t>
            </a:r>
          </a:p>
          <a:p>
            <a:pPr lvl="1"/>
            <a:r>
              <a:rPr lang="en-US" dirty="0"/>
              <a:t>Spatial constraints</a:t>
            </a:r>
          </a:p>
          <a:p>
            <a:r>
              <a:rPr lang="en-US" dirty="0"/>
              <a:t>Persist track features using FAISS</a:t>
            </a:r>
          </a:p>
          <a:p>
            <a:r>
              <a:rPr lang="en-US" dirty="0"/>
              <a:t>Reacquire archived identities when reappearing</a:t>
            </a:r>
          </a:p>
          <a:p>
            <a:r>
              <a:rPr lang="en-US" dirty="0"/>
              <a:t>Merge highly similar mature tracks</a:t>
            </a:r>
          </a:p>
          <a:p>
            <a:r>
              <a:rPr lang="en-US" dirty="0"/>
              <a:t>Archive inactive tracks and manage ID reuse</a:t>
            </a:r>
          </a:p>
        </p:txBody>
      </p:sp>
    </p:spTree>
    <p:extLst>
      <p:ext uri="{BB962C8B-B14F-4D97-AF65-F5344CB8AC3E}">
        <p14:creationId xmlns:p14="http://schemas.microsoft.com/office/powerpoint/2010/main" val="344255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49D6F-01C7-007C-9CFB-ED4048B7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FC9F-D325-F78E-4A1D-11DE6594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C4FB45-C1A1-F253-F75B-A6929E28B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Camera Input Layer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Detection Layer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 Extraction Layer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Association Engine (Tracker and matching)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Track Database (</a:t>
            </a:r>
            <a:r>
              <a:rPr lang="en-US" dirty="0" err="1"/>
              <a:t>TrackDB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Visualization Layer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 Flow:</a:t>
            </a:r>
            <a:endParaRPr lang="en-US" dirty="0"/>
          </a:p>
          <a:p>
            <a:pPr marL="0" indent="0">
              <a:buNone/>
            </a:pPr>
            <a:r>
              <a:rPr lang="en-US" sz="2600" dirty="0"/>
              <a:t>Cameras → Detection → Embedding → Tracking → Persistence → Visualization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78DA8984-5AC1-D24A-5C3B-DFC6E3E10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439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85C72-42E7-353B-4A45-B899B6FF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D2F2-3925-9D02-F43C-8C9B62CC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1. Camera Feeds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26A07F-80BC-84A7-AAB2-FFA0D14DE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Multiple cameras provide </a:t>
            </a:r>
            <a:r>
              <a:rPr lang="en-US" b="1" dirty="0"/>
              <a:t>raw video frames</a:t>
            </a:r>
            <a:endParaRPr lang="en-US" dirty="0"/>
          </a:p>
          <a:p>
            <a:r>
              <a:rPr lang="en-US" dirty="0"/>
              <a:t>Each camera stream is processed independently</a:t>
            </a:r>
          </a:p>
          <a:p>
            <a:r>
              <a:rPr lang="en-US" dirty="0"/>
              <a:t>Frames are resized and validated before further processing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180587D2-04F0-FE3C-6061-26C7A90BB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170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DDB2-841A-D7F8-4999-6438BC1A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EE39-7B56-04FB-A77B-B269569F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2. Detection Pass (YOLO11s)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E9F27E-48DD-7CA2-60FB-E2FB585C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Uses </a:t>
            </a:r>
            <a:r>
              <a:rPr lang="en-US" b="1" dirty="0"/>
              <a:t>YOLO11s</a:t>
            </a:r>
            <a:r>
              <a:rPr lang="en-US" dirty="0"/>
              <a:t> deep learning model</a:t>
            </a:r>
          </a:p>
          <a:p>
            <a:r>
              <a:rPr lang="en-US" dirty="0"/>
              <a:t>Detects persons in each frame</a:t>
            </a:r>
          </a:p>
          <a:p>
            <a:r>
              <a:rPr lang="en-US" dirty="0"/>
              <a:t>Outputs bounding boxes in (x1, y1, x2, y2) format</a:t>
            </a:r>
          </a:p>
          <a:p>
            <a:r>
              <a:rPr lang="en-US" dirty="0"/>
              <a:t>Filters non-person classes and low-confidence detections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CF220064-79C5-A770-189D-E36B900C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415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F773-8BF2-94E9-3383-B6757FFD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B4BE-1732-B824-D933-145AF134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3. Feature Extraction (ResNet-18)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4226B3-4C35-9B7F-9E6E-69B7A3534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Crops detected person regions</a:t>
            </a:r>
          </a:p>
          <a:p>
            <a:r>
              <a:rPr lang="en-US" dirty="0"/>
              <a:t>Uses </a:t>
            </a:r>
            <a:r>
              <a:rPr lang="en-US" b="1" dirty="0"/>
              <a:t>ResNet-18</a:t>
            </a:r>
            <a:r>
              <a:rPr lang="en-US" dirty="0"/>
              <a:t> backbone</a:t>
            </a:r>
          </a:p>
          <a:p>
            <a:r>
              <a:rPr lang="en-US" dirty="0"/>
              <a:t>Produces </a:t>
            </a:r>
            <a:r>
              <a:rPr lang="en-US" b="1" dirty="0"/>
              <a:t>512-dimensional normalized appearance embeddings</a:t>
            </a:r>
            <a:endParaRPr lang="en-US" dirty="0"/>
          </a:p>
          <a:p>
            <a:r>
              <a:rPr lang="en-US" dirty="0"/>
              <a:t>Applies feature validation and normalization</a:t>
            </a:r>
          </a:p>
          <a:p>
            <a:r>
              <a:rPr lang="en-US" dirty="0"/>
              <a:t>Ensures embedding stability across frames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5FF50B6E-261E-2AC6-2A73-79B20069B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615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C8D9-D0FF-1D5F-0867-24255CAA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83F1-048E-B905-0C83-07FB0C54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4. Association Engine </a:t>
            </a:r>
            <a:r>
              <a:rPr lang="en-US" dirty="0"/>
              <a:t>(core intelligence of the system)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A064A3-5630-CDF5-6A89-060C2076A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Active Tracks Matching</a:t>
            </a:r>
          </a:p>
          <a:p>
            <a:r>
              <a:rPr lang="en-US" dirty="0"/>
              <a:t>Computes distance matrix between detections and active tracks</a:t>
            </a:r>
          </a:p>
          <a:p>
            <a:r>
              <a:rPr lang="en-US" dirty="0"/>
              <a:t>Uses cosine distance for visual similarity</a:t>
            </a:r>
          </a:p>
          <a:p>
            <a:r>
              <a:rPr lang="en-US" dirty="0"/>
              <a:t>Applies spatial constraints for same-camera matching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Unassigned Detections Handling</a:t>
            </a:r>
          </a:p>
          <a:p>
            <a:r>
              <a:rPr lang="en-US" dirty="0"/>
              <a:t>Detections that do not match active tracks are marked unassigned</a:t>
            </a:r>
          </a:p>
          <a:p>
            <a:r>
              <a:rPr lang="en-US" dirty="0"/>
              <a:t>These detections are sent for FAISS search in archived tracks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Reacquire or Create New</a:t>
            </a:r>
          </a:p>
          <a:p>
            <a:r>
              <a:rPr lang="en-US" dirty="0"/>
              <a:t>If a high-quality match is found → reacquire existing ID</a:t>
            </a:r>
          </a:p>
          <a:p>
            <a:r>
              <a:rPr lang="en-US" dirty="0"/>
              <a:t>Otherwise → create a new track</a:t>
            </a:r>
          </a:p>
          <a:p>
            <a:r>
              <a:rPr lang="en-US" dirty="0"/>
              <a:t>Enforces minimum maturity rules to avoid false re-identification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9A271039-C9A9-FF77-D645-637720B9F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4279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9F93-A9F7-BBAE-8274-47510F81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3E52-95CF-DD88-DE6B-783B2A12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5. </a:t>
            </a:r>
            <a:r>
              <a:rPr lang="en-US" b="1" dirty="0" err="1"/>
              <a:t>TrackDB</a:t>
            </a:r>
            <a:r>
              <a:rPr lang="en-US" b="1" dirty="0"/>
              <a:t> (Persistence Layer)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8616F4-D2A3-0744-EE43-5CBCFA6DC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1732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In-Memory Track List</a:t>
            </a:r>
          </a:p>
          <a:p>
            <a:r>
              <a:rPr lang="en-US" sz="1600" dirty="0"/>
              <a:t>Stores active and archived track objects</a:t>
            </a:r>
          </a:p>
          <a:p>
            <a:r>
              <a:rPr lang="en-US" sz="1600" dirty="0"/>
              <a:t>Maintains metadata such as:</a:t>
            </a:r>
          </a:p>
          <a:p>
            <a:r>
              <a:rPr lang="en-US" sz="1600" dirty="0"/>
              <a:t>Track ID</a:t>
            </a:r>
          </a:p>
          <a:p>
            <a:r>
              <a:rPr lang="en-US" sz="1600" dirty="0"/>
              <a:t>Feature vector</a:t>
            </a:r>
          </a:p>
          <a:p>
            <a:r>
              <a:rPr lang="en-US" sz="1600" dirty="0"/>
              <a:t>Camera history</a:t>
            </a:r>
          </a:p>
          <a:p>
            <a:r>
              <a:rPr lang="en-US" sz="1600" dirty="0"/>
              <a:t>Detection count</a:t>
            </a:r>
          </a:p>
          <a:p>
            <a:r>
              <a:rPr lang="en-US" sz="1600" dirty="0"/>
              <a:t>Timestamps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FAISS Index</a:t>
            </a:r>
          </a:p>
          <a:p>
            <a:r>
              <a:rPr lang="en-US" sz="1600" dirty="0"/>
              <a:t>Stores appearance features for fast similarity search</a:t>
            </a:r>
          </a:p>
          <a:p>
            <a:r>
              <a:rPr lang="en-US" sz="1600" dirty="0"/>
              <a:t>Enables efficient re-identification across time and cameras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Periodic Save</a:t>
            </a:r>
          </a:p>
          <a:p>
            <a:r>
              <a:rPr lang="en-US" sz="1600" dirty="0"/>
              <a:t>Track metadata saved as </a:t>
            </a:r>
            <a:r>
              <a:rPr lang="en-US" sz="1600" b="1" dirty="0"/>
              <a:t>Pickle (.</a:t>
            </a:r>
            <a:r>
              <a:rPr lang="en-US" sz="1600" b="1" dirty="0" err="1"/>
              <a:t>pkl</a:t>
            </a:r>
            <a:r>
              <a:rPr lang="en-US" sz="1600" b="1" dirty="0"/>
              <a:t>)</a:t>
            </a:r>
            <a:endParaRPr lang="en-US" sz="1600" dirty="0"/>
          </a:p>
          <a:p>
            <a:r>
              <a:rPr lang="en-US" sz="1600" dirty="0"/>
              <a:t>FAISS index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9228AD68-D633-3AC2-472D-FCA22EC16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2886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B4384-3577-7A12-BD30-99B26BF3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6D13-824F-C50E-7A91-9EDB0EDB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Expected Deliverables (continued)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1C5A7DD-C345-B6B1-C795-33ECC228F8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1873" y="1909415"/>
          <a:ext cx="11753386" cy="4446783"/>
        </p:xfrm>
        <a:graphic>
          <a:graphicData uri="http://schemas.openxmlformats.org/drawingml/2006/table">
            <a:tbl>
              <a:tblPr firstRow="1"/>
              <a:tblGrid>
                <a:gridCol w="3021981">
                  <a:extLst>
                    <a:ext uri="{9D8B030D-6E8A-4147-A177-3AD203B41FA5}">
                      <a16:colId xmlns:a16="http://schemas.microsoft.com/office/drawing/2014/main" val="799112114"/>
                    </a:ext>
                  </a:extLst>
                </a:gridCol>
                <a:gridCol w="5073805">
                  <a:extLst>
                    <a:ext uri="{9D8B030D-6E8A-4147-A177-3AD203B41FA5}">
                      <a16:colId xmlns:a16="http://schemas.microsoft.com/office/drawing/2014/main" val="75658058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4754378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667670169"/>
                    </a:ext>
                  </a:extLst>
                </a:gridCol>
              </a:tblGrid>
              <a:tr h="49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Phase / Task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Description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Duration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Timeline (Weeks)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891834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1. Project Planning &amp; Research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Review literature, define objectives, gather resources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1 - 2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800920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2. System Design &amp; Architecture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Design system modules: detection, tracking, </a:t>
                      </a:r>
                      <a:r>
                        <a:rPr lang="en-US" sz="1400" dirty="0" err="1"/>
                        <a:t>ReID</a:t>
                      </a:r>
                      <a:r>
                        <a:rPr lang="en-US" sz="1400" dirty="0"/>
                        <a:t>, database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3 - 4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063830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3. Data Collection &amp; Preprocessing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Collect CCTV/video data, prepare datasets for training/testing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1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5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701422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4. Model Selection &amp; Development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Implement YOLOv8 for detection and </a:t>
                      </a:r>
                      <a:r>
                        <a:rPr lang="en-US" sz="1400" dirty="0" err="1"/>
                        <a:t>FastReID</a:t>
                      </a:r>
                      <a:r>
                        <a:rPr lang="en-US" sz="1400" dirty="0"/>
                        <a:t> for </a:t>
                      </a:r>
                      <a:r>
                        <a:rPr lang="en-US" sz="1400" dirty="0" err="1"/>
                        <a:t>ReID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3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6 - 8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826096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5. Integration &amp; Real-Time Pipeline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Combine detection, tracking, and cross-camera ID modules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9 - 10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767605"/>
                  </a:ext>
                </a:extLst>
              </a:tr>
              <a:tr h="516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6. Testing &amp; Evaluation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Evaluate with MOTA, IDF1, and </a:t>
                      </a:r>
                      <a:r>
                        <a:rPr lang="en-US" sz="1400" dirty="0" err="1"/>
                        <a:t>mAP</a:t>
                      </a:r>
                      <a:r>
                        <a:rPr lang="en-US" sz="1400" dirty="0"/>
                        <a:t> metrics; optimize performance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11 - 12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445353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7. Documentation &amp; Report Writing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Prepare project report, code documentation, and presentation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13 - 14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468658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8. Final Presentation &amp; Demo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Present working prototype and final results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1 week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15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432538"/>
                  </a:ext>
                </a:extLst>
              </a:tr>
            </a:tbl>
          </a:graphicData>
        </a:graphic>
      </p:graphicFrame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EC61C759-E9C3-78E9-5E33-392C2A434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0931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857E-5235-BE5C-3B48-39A88837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3F26-3A87-A1D8-541F-DE81AE9B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Problems Faced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BB05B0B9-BD15-85C0-FD5D-1AAAFFF5D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E28FC-AC1D-5AC9-D829-197673A8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Camera Clarity (low resolution and differential resolution)</a:t>
            </a:r>
          </a:p>
          <a:p>
            <a:r>
              <a:rPr lang="en-US" dirty="0"/>
              <a:t>Camera Angle</a:t>
            </a:r>
          </a:p>
          <a:p>
            <a:r>
              <a:rPr lang="en-US" dirty="0"/>
              <a:t>Occlusion</a:t>
            </a:r>
          </a:p>
          <a:p>
            <a:r>
              <a:rPr lang="en-US" dirty="0"/>
              <a:t>Partial visibility or no visibility of Faces</a:t>
            </a:r>
          </a:p>
          <a:p>
            <a:r>
              <a:rPr lang="en-US" dirty="0"/>
              <a:t>Lighting</a:t>
            </a:r>
          </a:p>
          <a:p>
            <a:r>
              <a:rPr lang="en-US" dirty="0"/>
              <a:t>Clothes (Changing and Uniform)</a:t>
            </a:r>
          </a:p>
          <a:p>
            <a:r>
              <a:rPr lang="en-US" dirty="0"/>
              <a:t>Cross-Camera ID matching</a:t>
            </a:r>
          </a:p>
        </p:txBody>
      </p:sp>
    </p:spTree>
    <p:extLst>
      <p:ext uri="{BB962C8B-B14F-4D97-AF65-F5344CB8AC3E}">
        <p14:creationId xmlns:p14="http://schemas.microsoft.com/office/powerpoint/2010/main" val="3510064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9FA5-CCEF-44A0-4977-8EDD2B19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058D-6F22-3299-D212-E1B741D2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Results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B2E24C52-5DB6-99C8-1AE4-49B05D1CB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7EEFC-138E-DA54-3809-A2ADAA4D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Significant reduction in ID switching</a:t>
            </a:r>
          </a:p>
          <a:p>
            <a:r>
              <a:rPr lang="en-US" dirty="0"/>
              <a:t>Accurate re-identification after occlusion</a:t>
            </a:r>
          </a:p>
          <a:p>
            <a:r>
              <a:rPr lang="en-US" dirty="0"/>
              <a:t>Stable identity tracking across cameras</a:t>
            </a:r>
          </a:p>
          <a:p>
            <a:r>
              <a:rPr lang="en-US" dirty="0"/>
              <a:t>Controlled and safe ID reuse</a:t>
            </a:r>
          </a:p>
          <a:p>
            <a:r>
              <a:rPr lang="en-US" dirty="0"/>
              <a:t>Real-time performance on standard hardware</a:t>
            </a:r>
          </a:p>
          <a:p>
            <a:r>
              <a:rPr lang="en-US" dirty="0"/>
              <a:t>Improved robustness compared to baseline trackers</a:t>
            </a:r>
          </a:p>
        </p:txBody>
      </p:sp>
    </p:spTree>
    <p:extLst>
      <p:ext uri="{BB962C8B-B14F-4D97-AF65-F5344CB8AC3E}">
        <p14:creationId xmlns:p14="http://schemas.microsoft.com/office/powerpoint/2010/main" val="2040058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F3151-8510-A3A1-0F80-48BD440A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92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12B1-D35C-6328-ACFE-BFA24C78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E8FB-5D7E-6D0F-9953-C8A6349C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 err="1"/>
              <a:t>FlowChart</a:t>
            </a:r>
            <a:endParaRPr lang="en-US" b="1" dirty="0"/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3A387592-10E7-CFD7-F187-0A07CC93A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pic>
        <p:nvPicPr>
          <p:cNvPr id="8" name="Content Placeholder 2">
            <a:extLst>
              <a:ext uri="{FF2B5EF4-FFF2-40B4-BE49-F238E27FC236}">
                <a16:creationId xmlns:a16="http://schemas.microsoft.com/office/drawing/2014/main" id="{76E75224-8E74-8B0B-024F-C928C0575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3052" r="12474" b="14254"/>
          <a:stretch>
            <a:fillRect/>
          </a:stretch>
        </p:blipFill>
        <p:spPr>
          <a:xfrm>
            <a:off x="4836226" y="73544"/>
            <a:ext cx="3915887" cy="676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5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A9CD-D4EA-C440-1EE1-6AE0027E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600A-8D91-1FC2-B483-3128BCA0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Simplified flowchart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D7737812-34E9-F5CE-9BAC-25F3BB6B0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F3FF22-2276-6297-1BF7-7F31B2126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9700" y="2299494"/>
            <a:ext cx="93726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24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FFA6B-680B-004E-9AAC-643DFEC6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E186-1145-2291-F035-FC14B443E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Improvements over Phase 1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D7F62490-D1AA-D820-B593-16BB5331C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2635C-47D4-4C7B-071D-366C4506A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ResNet18 to ResNet50</a:t>
            </a:r>
          </a:p>
          <a:p>
            <a:r>
              <a:rPr lang="en-US" dirty="0"/>
              <a:t>Multi-threaded camera workers</a:t>
            </a:r>
          </a:p>
          <a:p>
            <a:r>
              <a:rPr lang="en-US" dirty="0"/>
              <a:t>Batch processing</a:t>
            </a:r>
          </a:p>
          <a:p>
            <a:r>
              <a:rPr lang="en-US" dirty="0"/>
              <a:t>CBAM – Convolutional Block Attention Module</a:t>
            </a:r>
          </a:p>
          <a:p>
            <a:r>
              <a:rPr lang="en-US" dirty="0"/>
              <a:t>HSV fusion (Normalizing color)</a:t>
            </a:r>
          </a:p>
          <a:p>
            <a:r>
              <a:rPr lang="en-US" dirty="0"/>
              <a:t>Graph based Matcher (Hungarian Algorithm)</a:t>
            </a:r>
          </a:p>
          <a:p>
            <a:r>
              <a:rPr lang="en-US" dirty="0"/>
              <a:t>Archive and expire logic</a:t>
            </a:r>
          </a:p>
          <a:p>
            <a:r>
              <a:rPr lang="en-US" dirty="0" err="1"/>
              <a:t>Hierrarchical</a:t>
            </a:r>
            <a:r>
              <a:rPr lang="en-US" dirty="0"/>
              <a:t> track DB (FAISS - </a:t>
            </a:r>
            <a:r>
              <a:rPr lang="en-US" dirty="0" err="1"/>
              <a:t>IndexIVFFlat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4412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A466B-C108-9263-8D7A-5ED1B819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79E3-1DF7-8603-2ECA-E18E27FE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Flow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AB7DAEAC-A3AD-5CF2-015F-DDD494760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6D148-7DC1-166F-D1BB-D8D0D0056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Camera Workers</a:t>
            </a:r>
            <a:r>
              <a:rPr lang="en-US" dirty="0"/>
              <a:t> (Camera feed in batches - queue)</a:t>
            </a:r>
          </a:p>
          <a:p>
            <a:r>
              <a:rPr lang="en-US" b="1" dirty="0"/>
              <a:t>YOLO detection </a:t>
            </a:r>
            <a:r>
              <a:rPr lang="en-US" dirty="0"/>
              <a:t>(YOLO 11s)</a:t>
            </a:r>
          </a:p>
          <a:p>
            <a:r>
              <a:rPr lang="en-US" b="1" dirty="0"/>
              <a:t>Quality gate</a:t>
            </a:r>
            <a:r>
              <a:rPr lang="en-US" dirty="0"/>
              <a:t> – sharpness, relative size to frame, aspect ratio, edge richness, YOLO confidence</a:t>
            </a:r>
          </a:p>
          <a:p>
            <a:r>
              <a:rPr lang="en-US" b="1" dirty="0"/>
              <a:t>Feature Extraction</a:t>
            </a:r>
            <a:r>
              <a:rPr lang="en-US" dirty="0"/>
              <a:t> (ResNet50 with CBAM + color histogram)</a:t>
            </a:r>
          </a:p>
          <a:p>
            <a:r>
              <a:rPr lang="en-US" b="1" dirty="0"/>
              <a:t>Archive/Expire Pass</a:t>
            </a:r>
            <a:r>
              <a:rPr lang="en-US" dirty="0"/>
              <a:t> – 10 frames or 8 secs (archived). 20 secs (expire)</a:t>
            </a:r>
          </a:p>
          <a:p>
            <a:r>
              <a:rPr lang="en-US" b="1" dirty="0"/>
              <a:t>Camera Transition Guard</a:t>
            </a:r>
            <a:r>
              <a:rPr lang="en-US" dirty="0"/>
              <a:t> – Ping Pong guard (0.5 – 15 secs)</a:t>
            </a:r>
          </a:p>
        </p:txBody>
      </p:sp>
    </p:spTree>
    <p:extLst>
      <p:ext uri="{BB962C8B-B14F-4D97-AF65-F5344CB8AC3E}">
        <p14:creationId xmlns:p14="http://schemas.microsoft.com/office/powerpoint/2010/main" val="1857022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9DF1-DA0F-4698-37A0-0524B947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7623-A913-E034-C583-46CA5E90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Matching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C5FF6A24-35E4-7E33-96D2-6D1131127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DC904-22C9-C73F-EF8C-A52307208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Hungarian Matching </a:t>
            </a:r>
            <a:r>
              <a:rPr lang="en-US" dirty="0"/>
              <a:t>between every detection and every active track</a:t>
            </a:r>
          </a:p>
          <a:p>
            <a:r>
              <a:rPr lang="en-US" dirty="0"/>
              <a:t>Track Update and Re-ID Search</a:t>
            </a:r>
          </a:p>
          <a:p>
            <a:r>
              <a:rPr lang="en-US" dirty="0"/>
              <a:t>Reacquire or New Track</a:t>
            </a:r>
          </a:p>
          <a:p>
            <a:r>
              <a:rPr lang="en-US" dirty="0"/>
              <a:t>Merge Pass (rebuild </a:t>
            </a:r>
            <a:r>
              <a:rPr lang="en-US" dirty="0" err="1"/>
              <a:t>faiss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FAISS IVF-Flat index rebuilt every 30 secs (and trains on acquiring 2048 vectors)</a:t>
            </a:r>
          </a:p>
        </p:txBody>
      </p:sp>
    </p:spTree>
    <p:extLst>
      <p:ext uri="{BB962C8B-B14F-4D97-AF65-F5344CB8AC3E}">
        <p14:creationId xmlns:p14="http://schemas.microsoft.com/office/powerpoint/2010/main" val="3862102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36A55-E783-8FF1-8834-851500BA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11ECFE60-158C-09D2-6DAD-2AECFB648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D59BD59-B7D2-43A2-83EC-62144BC7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260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1087</Words>
  <Application>Microsoft Macintosh PowerPoint</Application>
  <PresentationFormat>Widescreen</PresentationFormat>
  <Paragraphs>193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MTech in CSE (2024 - 2026) Semester - IV UE24CS7A1A - Project Work Phase - 2 Review - 1</vt:lpstr>
      <vt:lpstr>Problem Statement</vt:lpstr>
      <vt:lpstr>Scope</vt:lpstr>
      <vt:lpstr>Applications/Use cases</vt:lpstr>
      <vt:lpstr>Design Constraints, Assumptions &amp; Dependencies</vt:lpstr>
      <vt:lpstr>Technologies Used</vt:lpstr>
      <vt:lpstr>Flow Diagram</vt:lpstr>
      <vt:lpstr>Proposed Methodology / Approach</vt:lpstr>
      <vt:lpstr>Architecture</vt:lpstr>
      <vt:lpstr>1. Camera Feeds</vt:lpstr>
      <vt:lpstr>2. Detection Pass (YOLO11s)</vt:lpstr>
      <vt:lpstr>3. Feature Extraction (ResNet-18)</vt:lpstr>
      <vt:lpstr>4. Association Engine (core intelligence of the system)</vt:lpstr>
      <vt:lpstr>5. TrackDB (Persistence Layer)</vt:lpstr>
      <vt:lpstr>Expected Deliverables (continued)</vt:lpstr>
      <vt:lpstr>Problems Faced</vt:lpstr>
      <vt:lpstr>Results</vt:lpstr>
      <vt:lpstr>PowerPoint Presentation</vt:lpstr>
      <vt:lpstr>FlowChart</vt:lpstr>
      <vt:lpstr>Simplified flowchart</vt:lpstr>
      <vt:lpstr>Improvements over Phase 1</vt:lpstr>
      <vt:lpstr>Flow</vt:lpstr>
      <vt:lpstr>Matching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Durgesh Gowda</dc:creator>
  <cp:lastModifiedBy>Durgesh Gowda</cp:lastModifiedBy>
  <cp:revision>30</cp:revision>
  <cp:lastPrinted>2025-11-13T09:38:08Z</cp:lastPrinted>
  <dcterms:created xsi:type="dcterms:W3CDTF">2025-11-04T19:50:08Z</dcterms:created>
  <dcterms:modified xsi:type="dcterms:W3CDTF">2026-04-13T07:46:58Z</dcterms:modified>
</cp:coreProperties>
</file>